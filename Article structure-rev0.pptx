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7"/>
  </p:notesMasterIdLst>
  <p:handoutMasterIdLst>
    <p:handoutMasterId r:id="rId8"/>
  </p:handoutMasterIdLst>
  <p:sldIdLst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A9E83A0-ADB2-4140-A11F-F13A6893763F}">
  <a:tblStyle styleId="{3A9E83A0-ADB2-4140-A11F-F13A6893763F}" styleName="Brand Table">
    <a:wholeTbl>
      <a:tcTxStyle>
        <a:fontRef idx="minor">
          <a:prstClr val="white"/>
        </a:fontRef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38100" cmpd="sng">
              <a:solidFill>
                <a:schemeClr val="tx1"/>
              </a:solidFill>
            </a:ln>
          </a:top>
          <a:bottom>
            <a:ln w="38100" cmpd="sng">
              <a:solidFill>
                <a:schemeClr val="tx1"/>
              </a:solidFill>
            </a:ln>
          </a:bottom>
          <a:insideH>
            <a:ln w="6350" cmpd="sng">
              <a:solidFill>
                <a:schemeClr val="tx1">
                  <a:lumMod val="85000"/>
                </a:schemeClr>
              </a:solidFill>
            </a:ln>
          </a:insideH>
          <a:insideV>
            <a:ln w="6350" cmpd="sng">
              <a:solidFill>
                <a:schemeClr val="tx1">
                  <a:lumMod val="85000"/>
                </a:schemeClr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chemeClr val="bg2"/>
          </a:solidFill>
        </a:fill>
      </a:tcStyle>
    </a:band2H>
    <a:band1V>
      <a:tcStyle>
        <a:tcBdr/>
        <a:fill>
          <a:solidFill>
            <a:schemeClr val="bg2"/>
          </a:solidFill>
        </a:fill>
      </a:tcStyle>
    </a:band1V>
    <a:band2V>
      <a:tcStyle>
        <a:tcBdr/>
      </a:tcStyle>
    </a:band2V>
    <a:lastCol>
      <a:tcTxStyle b="on">
        <a:fontRef idx="minor">
          <a:prstClr val="white"/>
        </a:fontRef>
        <a:schemeClr val="tx1"/>
      </a:tcTxStyle>
      <a:tcStyle>
        <a:tcBdr/>
      </a:tcStyle>
    </a:lastCol>
    <a:firstCol>
      <a:tcTxStyle b="on">
        <a:fontRef idx="minor">
          <a:prstClr val="white"/>
        </a:fontRef>
        <a:schemeClr val="bg1"/>
      </a:tcTxStyle>
      <a:tcStyle>
        <a:tcBdr/>
        <a:fill>
          <a:solidFill>
            <a:schemeClr val="tx1"/>
          </a:solidFill>
        </a:fill>
      </a:tcStyle>
    </a:firstCol>
    <a:lastRow>
      <a:tcTxStyle b="on">
        <a:fontRef idx="minor">
          <a:prstClr val="white"/>
        </a:fontRef>
        <a:schemeClr val="tx1"/>
      </a:tcTxStyle>
      <a:tcStyle>
        <a:tcBdr>
          <a:top>
            <a:ln w="38100" cmpd="sng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prstClr val="white"/>
        </a:fontRef>
        <a:schemeClr val="bg1"/>
      </a:tcTxStyle>
      <a:tcStyle>
        <a:tcBdr/>
        <a:fill>
          <a:solidFill>
            <a:schemeClr val="tx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tx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912" y="-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9530"/>
    </p:cViewPr>
  </p:sorterViewPr>
  <p:notesViewPr>
    <p:cSldViewPr snapToGrid="0">
      <p:cViewPr varScale="1">
        <p:scale>
          <a:sx n="97" d="100"/>
          <a:sy n="97" d="100"/>
        </p:scale>
        <p:origin x="2331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 Thuy C" userId="3196dba9-4211-49e2-84ac-ca161f18f2dc" providerId="ADAL" clId="{FCF61CAB-0E74-447C-8903-D1AE036AAEBF}"/>
    <pc:docChg chg="undo custSel addSld delSld modSld sldOrd modMainMaster">
      <pc:chgData name="PHAM Thuy C" userId="3196dba9-4211-49e2-84ac-ca161f18f2dc" providerId="ADAL" clId="{FCF61CAB-0E74-447C-8903-D1AE036AAEBF}" dt="2026-10-13T19:59:07.591" v="2843" actId="20577"/>
      <pc:docMkLst>
        <pc:docMk/>
      </pc:docMkLst>
      <pc:sldChg chg="addSp delSp modSp add mod ord chgLayout">
        <pc:chgData name="PHAM Thuy C" userId="3196dba9-4211-49e2-84ac-ca161f18f2dc" providerId="ADAL" clId="{FCF61CAB-0E74-447C-8903-D1AE036AAEBF}" dt="2026-10-13T19:59:07.591" v="2843" actId="20577"/>
        <pc:sldMkLst>
          <pc:docMk/>
          <pc:sldMk cId="1195085618" sldId="258"/>
        </pc:sldMkLst>
        <pc:spChg chg="add mod">
          <ac:chgData name="PHAM Thuy C" userId="3196dba9-4211-49e2-84ac-ca161f18f2dc" providerId="ADAL" clId="{FCF61CAB-0E74-447C-8903-D1AE036AAEBF}" dt="2026-10-07T14:13:05.885" v="540" actId="1076"/>
          <ac:spMkLst>
            <pc:docMk/>
            <pc:sldMk cId="1195085618" sldId="258"/>
            <ac:spMk id="3" creationId="{2A48B083-68F8-E1B3-77FF-3359AF3F33C8}"/>
          </ac:spMkLst>
        </pc:spChg>
        <pc:spChg chg="add mod">
          <ac:chgData name="PHAM Thuy C" userId="3196dba9-4211-49e2-84ac-ca161f18f2dc" providerId="ADAL" clId="{FCF61CAB-0E74-447C-8903-D1AE036AAEBF}" dt="2026-10-09T16:02:46.806" v="2766" actId="14100"/>
          <ac:spMkLst>
            <pc:docMk/>
            <pc:sldMk cId="1195085618" sldId="258"/>
            <ac:spMk id="6" creationId="{6685C364-9945-BFD8-7DBB-919362E6F46A}"/>
          </ac:spMkLst>
        </pc:spChg>
        <pc:spChg chg="add mod">
          <ac:chgData name="PHAM Thuy C" userId="3196dba9-4211-49e2-84ac-ca161f18f2dc" providerId="ADAL" clId="{FCF61CAB-0E74-447C-8903-D1AE036AAEBF}" dt="2026-10-13T19:54:48.130" v="2769" actId="20577"/>
          <ac:spMkLst>
            <pc:docMk/>
            <pc:sldMk cId="1195085618" sldId="258"/>
            <ac:spMk id="8" creationId="{DD9305C9-07DF-BA9A-B381-C70FA3CA892B}"/>
          </ac:spMkLst>
        </pc:spChg>
        <pc:spChg chg="add mod">
          <ac:chgData name="PHAM Thuy C" userId="3196dba9-4211-49e2-84ac-ca161f18f2dc" providerId="ADAL" clId="{FCF61CAB-0E74-447C-8903-D1AE036AAEBF}" dt="2026-10-09T12:40:08.257" v="2598" actId="1076"/>
          <ac:spMkLst>
            <pc:docMk/>
            <pc:sldMk cId="1195085618" sldId="258"/>
            <ac:spMk id="10" creationId="{A7AA185E-8ECF-5913-359A-853CFD0943C5}"/>
          </ac:spMkLst>
        </pc:spChg>
        <pc:spChg chg="add mod">
          <ac:chgData name="PHAM Thuy C" userId="3196dba9-4211-49e2-84ac-ca161f18f2dc" providerId="ADAL" clId="{FCF61CAB-0E74-447C-8903-D1AE036AAEBF}" dt="2026-10-13T19:58:37.436" v="2826" actId="20577"/>
          <ac:spMkLst>
            <pc:docMk/>
            <pc:sldMk cId="1195085618" sldId="258"/>
            <ac:spMk id="12" creationId="{173DC497-D791-32F8-15D4-45523DD28AD0}"/>
          </ac:spMkLst>
        </pc:spChg>
        <pc:spChg chg="add mod">
          <ac:chgData name="PHAM Thuy C" userId="3196dba9-4211-49e2-84ac-ca161f18f2dc" providerId="ADAL" clId="{FCF61CAB-0E74-447C-8903-D1AE036AAEBF}" dt="2026-10-13T19:59:07.591" v="2843" actId="20577"/>
          <ac:spMkLst>
            <pc:docMk/>
            <pc:sldMk cId="1195085618" sldId="258"/>
            <ac:spMk id="15" creationId="{7509F91B-8700-2CE3-CCC1-7D5B8771E171}"/>
          </ac:spMkLst>
        </pc:spChg>
        <pc:spChg chg="add mod">
          <ac:chgData name="PHAM Thuy C" userId="3196dba9-4211-49e2-84ac-ca161f18f2dc" providerId="ADAL" clId="{FCF61CAB-0E74-447C-8903-D1AE036AAEBF}" dt="2026-10-09T12:40:14.466" v="2601" actId="1076"/>
          <ac:spMkLst>
            <pc:docMk/>
            <pc:sldMk cId="1195085618" sldId="258"/>
            <ac:spMk id="17" creationId="{AF86EEF5-886F-A995-09A3-D944BAE19513}"/>
          </ac:spMkLst>
        </pc:spChg>
        <pc:spChg chg="add mod">
          <ac:chgData name="PHAM Thuy C" userId="3196dba9-4211-49e2-84ac-ca161f18f2dc" providerId="ADAL" clId="{FCF61CAB-0E74-447C-8903-D1AE036AAEBF}" dt="2026-10-09T12:40:17.683" v="2602" actId="1076"/>
          <ac:spMkLst>
            <pc:docMk/>
            <pc:sldMk cId="1195085618" sldId="258"/>
            <ac:spMk id="19" creationId="{A4E0E8F3-BC43-0246-F64E-711118FF30BA}"/>
          </ac:spMkLst>
        </pc:spChg>
        <pc:spChg chg="mod">
          <ac:chgData name="PHAM Thuy C" userId="3196dba9-4211-49e2-84ac-ca161f18f2dc" providerId="ADAL" clId="{FCF61CAB-0E74-447C-8903-D1AE036AAEBF}" dt="2026-10-08T15:08:19.583" v="2482"/>
          <ac:spMkLst>
            <pc:docMk/>
            <pc:sldMk cId="1195085618" sldId="258"/>
            <ac:spMk id="28" creationId="{8451AC37-9E4E-1EAC-83D6-30A0F769C757}"/>
          </ac:spMkLst>
        </pc:spChg>
      </pc:sldChg>
      <pc:sldChg chg="addSp delSp modSp new mod modClrScheme chgLayout">
        <pc:chgData name="PHAM Thuy C" userId="3196dba9-4211-49e2-84ac-ca161f18f2dc" providerId="ADAL" clId="{FCF61CAB-0E74-447C-8903-D1AE036AAEBF}" dt="2026-10-08T15:10:46.996" v="2531" actId="1035"/>
        <pc:sldMkLst>
          <pc:docMk/>
          <pc:sldMk cId="3037000955" sldId="259"/>
        </pc:sldMkLst>
        <pc:spChg chg="add mod">
          <ac:chgData name="PHAM Thuy C" userId="3196dba9-4211-49e2-84ac-ca161f18f2dc" providerId="ADAL" clId="{FCF61CAB-0E74-447C-8903-D1AE036AAEBF}" dt="2026-10-08T15:10:38.467" v="2505" actId="108"/>
          <ac:spMkLst>
            <pc:docMk/>
            <pc:sldMk cId="3037000955" sldId="259"/>
            <ac:spMk id="18" creationId="{E0BA4B33-08C6-A968-B6A4-1CB46EA2D927}"/>
          </ac:spMkLst>
        </pc:spChg>
        <pc:cxnChg chg="add mod">
          <ac:chgData name="PHAM Thuy C" userId="3196dba9-4211-49e2-84ac-ca161f18f2dc" providerId="ADAL" clId="{FCF61CAB-0E74-447C-8903-D1AE036AAEBF}" dt="2026-10-08T15:10:46.996" v="2531" actId="1035"/>
          <ac:cxnSpMkLst>
            <pc:docMk/>
            <pc:sldMk cId="3037000955" sldId="259"/>
            <ac:cxnSpMk id="3" creationId="{034B9346-895C-935E-B8AE-F78048CDF610}"/>
          </ac:cxnSpMkLst>
        </pc:cxnChg>
        <pc:cxnChg chg="add mod">
          <ac:chgData name="PHAM Thuy C" userId="3196dba9-4211-49e2-84ac-ca161f18f2dc" providerId="ADAL" clId="{FCF61CAB-0E74-447C-8903-D1AE036AAEBF}" dt="2026-10-08T15:00:55.914" v="2477" actId="1076"/>
          <ac:cxnSpMkLst>
            <pc:docMk/>
            <pc:sldMk cId="3037000955" sldId="259"/>
            <ac:cxnSpMk id="5" creationId="{FE09A117-935D-0064-9452-47B46D20EE13}"/>
          </ac:cxnSpMkLst>
        </pc:cxnChg>
        <pc:cxnChg chg="add mod">
          <ac:chgData name="PHAM Thuy C" userId="3196dba9-4211-49e2-84ac-ca161f18f2dc" providerId="ADAL" clId="{FCF61CAB-0E74-447C-8903-D1AE036AAEBF}" dt="2026-10-08T15:09:38.920" v="2494" actId="14100"/>
          <ac:cxnSpMkLst>
            <pc:docMk/>
            <pc:sldMk cId="3037000955" sldId="259"/>
            <ac:cxnSpMk id="15" creationId="{E4D29A8E-3A99-56FE-FBD8-9C6DDB80AAE6}"/>
          </ac:cxnSpMkLst>
        </pc:cxnChg>
      </pc:sldChg>
      <pc:sldMasterChg chg="delSp mod modSldLayout">
        <pc:chgData name="PHAM Thuy C" userId="3196dba9-4211-49e2-84ac-ca161f18f2dc" providerId="ADAL" clId="{FCF61CAB-0E74-447C-8903-D1AE036AAEBF}" dt="2026-10-08T15:08:55.063" v="2488" actId="478"/>
        <pc:sldMasterMkLst>
          <pc:docMk/>
          <pc:sldMasterMk cId="4107364047" sldId="2147483799"/>
        </pc:sldMasterMkLst>
        <pc:sldLayoutChg chg="delSp modSp mod">
          <pc:chgData name="PHAM Thuy C" userId="3196dba9-4211-49e2-84ac-ca161f18f2dc" providerId="ADAL" clId="{FCF61CAB-0E74-447C-8903-D1AE036AAEBF}" dt="2026-10-08T15:08:50.888" v="2487" actId="1076"/>
          <pc:sldLayoutMkLst>
            <pc:docMk/>
            <pc:sldMasterMk cId="4107364047" sldId="2147483799"/>
            <pc:sldLayoutMk cId="3063967590" sldId="2147483800"/>
          </pc:sldLayoutMkLst>
          <pc:spChg chg="mod">
            <ac:chgData name="PHAM Thuy C" userId="3196dba9-4211-49e2-84ac-ca161f18f2dc" providerId="ADAL" clId="{FCF61CAB-0E74-447C-8903-D1AE036AAEBF}" dt="2026-10-08T15:08:50.888" v="2487" actId="1076"/>
            <ac:spMkLst>
              <pc:docMk/>
              <pc:sldMasterMk cId="4107364047" sldId="2147483799"/>
              <pc:sldLayoutMk cId="3063967590" sldId="2147483800"/>
              <ac:spMk id="6" creationId="{A60FE4BF-3A8C-EE9E-5732-C1A5868197B2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8B96D9-A36C-7A99-C221-D4382BA610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B9DCA-8B60-F0B6-0E8F-648376B58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67AD3-2A32-439F-99BC-6A2A96D749B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68076-B105-7D42-A9A1-8A40508CB7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0FA77-6317-23E9-ECAA-DB4333FA81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E74B0-7969-4CCD-AE4C-0D91E3F78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51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00E3-71B1-46FE-9DAB-344F4ED5259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8556F-DD77-4541-89E9-6DB31CF26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5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E4BF-3A8C-EE9E-5732-C1A58681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0540" y="6492875"/>
            <a:ext cx="421460" cy="365125"/>
          </a:xfrm>
          <a:prstGeom prst="rect">
            <a:avLst/>
          </a:prstGeom>
        </p:spPr>
        <p:txBody>
          <a:bodyPr/>
          <a:lstStyle/>
          <a:p>
            <a:fld id="{39CDFEC3-9B17-47B1-B07A-646B03D6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6759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60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36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11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34" userDrawn="1">
          <p15:clr>
            <a:srgbClr val="F26B43"/>
          </p15:clr>
        </p15:guide>
        <p15:guide id="2" orient="horz" pos="852" userDrawn="1">
          <p15:clr>
            <a:srgbClr val="F26B43"/>
          </p15:clr>
        </p15:guide>
        <p15:guide id="3" orient="horz" pos="3698" userDrawn="1">
          <p15:clr>
            <a:srgbClr val="F26B43"/>
          </p15:clr>
        </p15:guide>
        <p15:guide id="4" orient="horz" pos="4100" userDrawn="1">
          <p15:clr>
            <a:srgbClr val="F26B43"/>
          </p15:clr>
        </p15:guide>
        <p15:guide id="5" pos="2514" userDrawn="1">
          <p15:clr>
            <a:srgbClr val="F26B43"/>
          </p15:clr>
        </p15:guide>
        <p15:guide id="6" pos="1674" userDrawn="1">
          <p15:clr>
            <a:srgbClr val="F26B43"/>
          </p15:clr>
        </p15:guide>
        <p15:guide id="7" orient="horz" pos="239" userDrawn="1">
          <p15:clr>
            <a:srgbClr val="F26B43"/>
          </p15:clr>
        </p15:guide>
        <p15:guide id="8" pos="1554" userDrawn="1">
          <p15:clr>
            <a:srgbClr val="F26B43"/>
          </p15:clr>
        </p15:guide>
        <p15:guide id="9" pos="2394" userDrawn="1">
          <p15:clr>
            <a:srgbClr val="F26B43"/>
          </p15:clr>
        </p15:guide>
        <p15:guide id="10" pos="3236" userDrawn="1">
          <p15:clr>
            <a:srgbClr val="F26B43"/>
          </p15:clr>
        </p15:guide>
        <p15:guide id="11" pos="3356" userDrawn="1">
          <p15:clr>
            <a:srgbClr val="F26B43"/>
          </p15:clr>
        </p15:guide>
        <p15:guide id="12" pos="4079" userDrawn="1">
          <p15:clr>
            <a:srgbClr val="F26B43"/>
          </p15:clr>
        </p15:guide>
        <p15:guide id="13" pos="4196" userDrawn="1">
          <p15:clr>
            <a:srgbClr val="F26B43"/>
          </p15:clr>
        </p15:guide>
        <p15:guide id="14" pos="4919" userDrawn="1">
          <p15:clr>
            <a:srgbClr val="F26B43"/>
          </p15:clr>
        </p15:guide>
        <p15:guide id="15" pos="5040" userDrawn="1">
          <p15:clr>
            <a:srgbClr val="F26B43"/>
          </p15:clr>
        </p15:guide>
        <p15:guide id="16" pos="5760" userDrawn="1">
          <p15:clr>
            <a:srgbClr val="F26B43"/>
          </p15:clr>
        </p15:guide>
        <p15:guide id="17" pos="5880" userDrawn="1">
          <p15:clr>
            <a:srgbClr val="F26B43"/>
          </p15:clr>
        </p15:guide>
        <p15:guide id="18" pos="6600" userDrawn="1">
          <p15:clr>
            <a:srgbClr val="F26B43"/>
          </p15:clr>
        </p15:guide>
        <p15:guide id="19" pos="6720" userDrawn="1">
          <p15:clr>
            <a:srgbClr val="F26B43"/>
          </p15:clr>
        </p15:guide>
        <p15:guide id="20" pos="7440" userDrawn="1">
          <p15:clr>
            <a:srgbClr val="F26B43"/>
          </p15:clr>
        </p15:guide>
        <p15:guide id="21" pos="2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451AC37-9E4E-1EAC-83D6-30A0F769C7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72225"/>
            <a:ext cx="190500" cy="138113"/>
          </a:xfrm>
          <a:prstGeom prst="rect">
            <a:avLst/>
          </a:prstGeom>
        </p:spPr>
        <p:txBody>
          <a:bodyPr/>
          <a:lstStyle/>
          <a:p>
            <a:fld id="{99272199-A5BC-41D3-BB67-59B66A9BF6E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8B083-68F8-E1B3-77FF-3359AF3F33C8}"/>
              </a:ext>
            </a:extLst>
          </p:cNvPr>
          <p:cNvSpPr txBox="1"/>
          <p:nvPr/>
        </p:nvSpPr>
        <p:spPr>
          <a:xfrm>
            <a:off x="5490934" y="177800"/>
            <a:ext cx="808265" cy="16158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Article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5C364-9945-BFD8-7DBB-919362E6F46A}"/>
              </a:ext>
            </a:extLst>
          </p:cNvPr>
          <p:cNvSpPr txBox="1"/>
          <p:nvPr/>
        </p:nvSpPr>
        <p:spPr>
          <a:xfrm>
            <a:off x="5490934" y="498475"/>
            <a:ext cx="3405416" cy="25391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Abstract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600" dirty="0"/>
              <a:t>Key words to be mentioned: g coefficient , rM, plasticity, high-temperature piping, etc.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305C9-07DF-BA9A-B381-C70FA3CA892B}"/>
              </a:ext>
            </a:extLst>
          </p:cNvPr>
          <p:cNvSpPr txBox="1"/>
          <p:nvPr/>
        </p:nvSpPr>
        <p:spPr>
          <a:xfrm>
            <a:off x="5490934" y="936283"/>
            <a:ext cx="3500666" cy="134652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Introduction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Very brief summary : from Bernoulli to Timoshenko beam theory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Concepts of primary &amp; secondary stresses in a standard piping analysis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Probably talks about damage modes (let’s see)</a:t>
            </a:r>
          </a:p>
          <a:p>
            <a:pPr marL="685800" lvl="1" indent="-228600">
              <a:buFont typeface="Courier New" panose="02070309020205020404" pitchFamily="49" charset="0"/>
              <a:buChar char="o"/>
            </a:pPr>
            <a:r>
              <a:rPr lang="en-US" sz="700" dirty="0"/>
              <a:t>Excessive deformation</a:t>
            </a:r>
          </a:p>
          <a:p>
            <a:pPr marL="685800" lvl="1" indent="-228600">
              <a:buFont typeface="Courier New" panose="02070309020205020404" pitchFamily="49" charset="0"/>
              <a:buChar char="o"/>
            </a:pPr>
            <a:r>
              <a:rPr lang="en-US" sz="700" dirty="0"/>
              <a:t>Plastic instability</a:t>
            </a:r>
          </a:p>
          <a:p>
            <a:pPr marL="685800" lvl="1" indent="-228600">
              <a:buFont typeface="Courier New" panose="02070309020205020404" pitchFamily="49" charset="0"/>
              <a:buChar char="o"/>
            </a:pPr>
            <a:r>
              <a:rPr lang="en-US" sz="700" dirty="0"/>
              <a:t>Buckling</a:t>
            </a:r>
          </a:p>
          <a:p>
            <a:pPr marL="685800" lvl="1" indent="-228600">
              <a:buFont typeface="Courier New" panose="02070309020205020404" pitchFamily="49" charset="0"/>
              <a:buChar char="o"/>
            </a:pPr>
            <a:endParaRPr lang="en-US" sz="7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700" dirty="0"/>
              <a:t>Brief explanation on flexibility factor + ovalisation, without mentioning SIFs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700" dirty="0"/>
              <a:t>Introduce the elastic results to demonstrate the effect of flexibility factor + </a:t>
            </a:r>
            <a:r>
              <a:rPr lang="en-US" sz="700" dirty="0">
                <a:solidFill>
                  <a:srgbClr val="FF0000"/>
                </a:solidFill>
              </a:rPr>
              <a:t>pressure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700" dirty="0">
                <a:solidFill>
                  <a:srgbClr val="FF0000"/>
                </a:solidFill>
              </a:rPr>
              <a:t>Large strain explanation (let’s see)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700" dirty="0"/>
              <a:t>Show that further analysis might isolate discrepancies (if any) from FF &amp; </a:t>
            </a:r>
            <a:r>
              <a:rPr lang="en-US" sz="700" dirty="0">
                <a:solidFill>
                  <a:srgbClr val="FF0000"/>
                </a:solidFill>
              </a:rPr>
              <a:t>pression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A185E-8ECF-5913-359A-853CFD0943C5}"/>
              </a:ext>
            </a:extLst>
          </p:cNvPr>
          <p:cNvSpPr txBox="1"/>
          <p:nvPr/>
        </p:nvSpPr>
        <p:spPr>
          <a:xfrm>
            <a:off x="5484584" y="2479614"/>
            <a:ext cx="3564166" cy="70019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Plasticity – deviations of primary &amp; secondary concepts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Ramberg-Osgood law -- plasticity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Show example of three beams </a:t>
            </a:r>
            <a:br>
              <a:rPr lang="en-US" sz="700" dirty="0"/>
            </a:br>
            <a:r>
              <a:rPr lang="en-US" sz="700" dirty="0">
                <a:sym typeface="Wingdings" panose="05000000000000000000" pitchFamily="2" charset="2"/>
              </a:rPr>
              <a:t> show how primary &amp; secondary concepts are deviated in a plasticity-induced context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>
                <a:sym typeface="Wingdings" panose="05000000000000000000" pitchFamily="2" charset="2"/>
              </a:rPr>
              <a:t> displacement-controlled and force-controlled terms to be used from here </a:t>
            </a:r>
            <a:br>
              <a:rPr lang="en-US" sz="700" dirty="0">
                <a:sym typeface="Wingdings" panose="05000000000000000000" pitchFamily="2" charset="2"/>
              </a:rPr>
            </a:br>
            <a:r>
              <a:rPr lang="en-US" sz="700" dirty="0">
                <a:sym typeface="Wingdings" panose="05000000000000000000" pitchFamily="2" charset="2"/>
              </a:rPr>
              <a:t> Introduce the concept of elastic-follow-up factor</a:t>
            </a:r>
            <a:endParaRPr lang="en-US" sz="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DC497-D791-32F8-15D4-45523DD28AD0}"/>
              </a:ext>
            </a:extLst>
          </p:cNvPr>
          <p:cNvSpPr txBox="1"/>
          <p:nvPr/>
        </p:nvSpPr>
        <p:spPr>
          <a:xfrm>
            <a:off x="5484584" y="3368162"/>
            <a:ext cx="3837216" cy="70019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EFU factor and g </a:t>
            </a:r>
            <a:r>
              <a:rPr lang="en-US" sz="1050" b="1" dirty="0" err="1"/>
              <a:t>coeff</a:t>
            </a:r>
            <a:r>
              <a:rPr lang="en-US" sz="1050" b="1" dirty="0"/>
              <a:t> in </a:t>
            </a:r>
            <a:r>
              <a:rPr lang="en-US" sz="1050" b="1" dirty="0" err="1"/>
              <a:t>RCC</a:t>
            </a:r>
            <a:r>
              <a:rPr lang="en-US" sz="1050" b="1" dirty="0"/>
              <a:t>-MRx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Mathematical background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Show the method to perform calculations of rM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How to interpret different curves on the EFF curve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Introduce abatement coefficient + sm+sb + (link it to damage mode + global aspect of rM) 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endParaRPr 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09F91B-8700-2CE3-CCC1-7D5B8771E171}"/>
              </a:ext>
            </a:extLst>
          </p:cNvPr>
          <p:cNvSpPr txBox="1"/>
          <p:nvPr/>
        </p:nvSpPr>
        <p:spPr>
          <a:xfrm>
            <a:off x="5490934" y="4301950"/>
            <a:ext cx="4065816" cy="59247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050" b="1"/>
              <a:t>Elastoplastic benchmark </a:t>
            </a:r>
            <a:r>
              <a:rPr lang="en-US" sz="1050" b="1" dirty="0"/>
              <a:t>on g coefficient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Reuse the model from introduction paragraph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Show the g FEA and g RCC-MRx discrepancies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Discussions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700" dirty="0"/>
              <a:t>More explanations on g coefficient and explain the modification in g formula for this benchmark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6EEF5-886F-A995-09A3-D944BAE19513}"/>
              </a:ext>
            </a:extLst>
          </p:cNvPr>
          <p:cNvSpPr txBox="1"/>
          <p:nvPr/>
        </p:nvSpPr>
        <p:spPr>
          <a:xfrm>
            <a:off x="5427434" y="5117061"/>
            <a:ext cx="3564166" cy="62324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50" b="1" dirty="0"/>
              <a:t>Conclusion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800" dirty="0"/>
              <a:t>Summary of the article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800" dirty="0"/>
              <a:t>Use of g coefficient in elevated temperature piping analysis ; </a:t>
            </a:r>
            <a:r>
              <a:rPr lang="en-US" sz="800" dirty="0">
                <a:solidFill>
                  <a:srgbClr val="FF0000"/>
                </a:solidFill>
              </a:rPr>
              <a:t>unique g 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800" dirty="0"/>
              <a:t>Open points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E0E8F3-BC43-0246-F64E-711118FF30BA}"/>
              </a:ext>
            </a:extLst>
          </p:cNvPr>
          <p:cNvSpPr txBox="1"/>
          <p:nvPr/>
        </p:nvSpPr>
        <p:spPr>
          <a:xfrm>
            <a:off x="5427434" y="5872088"/>
            <a:ext cx="2999016" cy="50013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50" b="1" dirty="0"/>
              <a:t>Appendix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800" dirty="0"/>
              <a:t>Mathematical full background of Roland Roche method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800" dirty="0"/>
              <a:t>Simplified benchmark on g (one straight pipe)</a:t>
            </a:r>
          </a:p>
        </p:txBody>
      </p:sp>
    </p:spTree>
    <p:extLst>
      <p:ext uri="{BB962C8B-B14F-4D97-AF65-F5344CB8AC3E}">
        <p14:creationId xmlns:p14="http://schemas.microsoft.com/office/powerpoint/2010/main" val="1195085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34B9346-895C-935E-B8AE-F78048CDF610}"/>
              </a:ext>
            </a:extLst>
          </p:cNvPr>
          <p:cNvCxnSpPr/>
          <p:nvPr/>
        </p:nvCxnSpPr>
        <p:spPr>
          <a:xfrm flipH="1" flipV="1">
            <a:off x="4122965" y="718458"/>
            <a:ext cx="0" cy="3200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09A117-935D-0064-9452-47B46D20EE13}"/>
              </a:ext>
            </a:extLst>
          </p:cNvPr>
          <p:cNvCxnSpPr/>
          <p:nvPr/>
        </p:nvCxnSpPr>
        <p:spPr>
          <a:xfrm>
            <a:off x="4118202" y="3918858"/>
            <a:ext cx="351880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D29A8E-3A99-56FE-FBD8-9C6DDB80AAE6}"/>
              </a:ext>
            </a:extLst>
          </p:cNvPr>
          <p:cNvCxnSpPr>
            <a:cxnSpLocks/>
          </p:cNvCxnSpPr>
          <p:nvPr/>
        </p:nvCxnSpPr>
        <p:spPr>
          <a:xfrm flipV="1">
            <a:off x="4127729" y="2047875"/>
            <a:ext cx="463321" cy="18709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BA4B33-08C6-A968-B6A4-1CB46EA2D927}"/>
              </a:ext>
            </a:extLst>
          </p:cNvPr>
          <p:cNvSpPr/>
          <p:nvPr/>
        </p:nvSpPr>
        <p:spPr>
          <a:xfrm>
            <a:off x="4591051" y="1228726"/>
            <a:ext cx="2762250" cy="823912"/>
          </a:xfrm>
          <a:custGeom>
            <a:avLst/>
            <a:gdLst>
              <a:gd name="csX0" fmla="*/ 0 w 2762250"/>
              <a:gd name="csY0" fmla="*/ 823912 h 823912"/>
              <a:gd name="csX1" fmla="*/ 814387 w 2762250"/>
              <a:gd name="csY1" fmla="*/ 252412 h 823912"/>
              <a:gd name="csX2" fmla="*/ 2762250 w 2762250"/>
              <a:gd name="csY2" fmla="*/ 0 h 823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62250" h="823912">
                <a:moveTo>
                  <a:pt x="0" y="823912"/>
                </a:moveTo>
                <a:cubicBezTo>
                  <a:pt x="177006" y="606821"/>
                  <a:pt x="354012" y="389731"/>
                  <a:pt x="814387" y="252412"/>
                </a:cubicBezTo>
                <a:cubicBezTo>
                  <a:pt x="1274762" y="115093"/>
                  <a:pt x="2444750" y="38894"/>
                  <a:pt x="2762250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0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6c74eb-6f55-4ff7-ba67-5ce22872af94" xsi:nil="true"/>
    <lcf76f155ced4ddcb4097134ff3c332f xmlns="83c5e7e9-a90e-48e0-a095-2f79d8126f0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0DD194919EF2458ED5274182F69EF7" ma:contentTypeVersion="14" ma:contentTypeDescription="Create a new document." ma:contentTypeScope="" ma:versionID="9d01c771c0628733ea1c93b952b7640d">
  <xsd:schema xmlns:xsd="http://www.w3.org/2001/XMLSchema" xmlns:xs="http://www.w3.org/2001/XMLSchema" xmlns:p="http://schemas.microsoft.com/office/2006/metadata/properties" xmlns:ns2="83c5e7e9-a90e-48e0-a095-2f79d8126f0e" xmlns:ns3="726c74eb-6f55-4ff7-ba67-5ce22872af94" targetNamespace="http://schemas.microsoft.com/office/2006/metadata/properties" ma:root="true" ma:fieldsID="734d199457a7b352b667ecb0762cf72f" ns2:_="" ns3:_="">
    <xsd:import namespace="83c5e7e9-a90e-48e0-a095-2f79d8126f0e"/>
    <xsd:import namespace="726c74eb-6f55-4ff7-ba67-5ce22872af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c5e7e9-a90e-48e0-a095-2f79d8126f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999a341-e37a-4672-a76c-13c49370584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c74eb-6f55-4ff7-ba67-5ce22872af9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8519a28-1171-4202-8117-e97ea3c67679}" ma:internalName="TaxCatchAll" ma:showField="CatchAllData" ma:web="726c74eb-6f55-4ff7-ba67-5ce22872af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59AA20-09ED-40E0-9B6F-2AF1C29BC488}">
  <ds:schemaRefs>
    <ds:schemaRef ds:uri="http://schemas.microsoft.com/office/2006/metadata/properties"/>
    <ds:schemaRef ds:uri="http://schemas.microsoft.com/office/infopath/2007/PartnerControls"/>
    <ds:schemaRef ds:uri="726c74eb-6f55-4ff7-ba67-5ce22872af94"/>
    <ds:schemaRef ds:uri="83c5e7e9-a90e-48e0-a095-2f79d8126f0e"/>
  </ds:schemaRefs>
</ds:datastoreItem>
</file>

<file path=customXml/itemProps2.xml><?xml version="1.0" encoding="utf-8"?>
<ds:datastoreItem xmlns:ds="http://schemas.openxmlformats.org/officeDocument/2006/customXml" ds:itemID="{76ABC3C3-D735-4A14-A8EA-78DF9F1061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c5e7e9-a90e-48e0-a095-2f79d8126f0e"/>
    <ds:schemaRef ds:uri="726c74eb-6f55-4ff7-ba67-5ce22872af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2E19B6-22B2-4B65-8D97-07F31685C9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4017</TotalTime>
  <Words>270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Courier New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Thuy C</dc:creator>
  <cp:lastModifiedBy>PHAM Thuy C</cp:lastModifiedBy>
  <cp:revision>2</cp:revision>
  <dcterms:created xsi:type="dcterms:W3CDTF">2026-05-31T15:28:12Z</dcterms:created>
  <dcterms:modified xsi:type="dcterms:W3CDTF">2026-10-13T19:59:10Z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0x010100DD0DD194919EF2458ED5274182F69EF7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2026-05-31T15:31:13Z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6f0631cd-785f-4219-9cd9-b2a624be0039</vt:lpwstr>
  </property>
  <property fmtid="{D5CDD505-2E9C-101B-9397-08002B2CF9AE}" pid="8" name="MSIP_Label_defa4170-0d19-0005-0004-bc88714345d2_ActionId">
    <vt:lpwstr>14e44714-5da7-4518-ae21-66c95332e4ca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